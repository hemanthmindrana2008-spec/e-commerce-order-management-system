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5528" y="365760"/>
            <a:ext cx="5120640" cy="48183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2F559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Management Systems Cornerstone Project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2F559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Final Review (Review II)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 Order Management System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3520440"/>
            <a:ext cx="4754880" cy="1965960"/>
          </a:xfrm>
          <a:prstGeom prst="roundRect">
            <a:avLst>
              <a:gd name="adj" fmla="val 6512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88720" y="37490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BY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42062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MRS. V. Narasamba mam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309360" y="3520440"/>
            <a:ext cx="4983480" cy="1965960"/>
          </a:xfrm>
          <a:prstGeom prst="roundRect">
            <a:avLst>
              <a:gd name="adj" fmla="val 6512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83680" y="36576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4069080"/>
            <a:ext cx="43891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IN" alt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M.Hemanth babu</a:t>
            </a:r>
            <a:r>
              <a:rPr 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(25B11AI739)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IN" alt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G.shara</a:t>
            </a:r>
            <a:r>
              <a:rPr 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(25B11AI038)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IN" alt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P.Sri datha sai krishna</a:t>
            </a:r>
            <a:r>
              <a:rPr 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(25B11AI097)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IN" alt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Ch.Teja sai durga</a:t>
            </a:r>
            <a:r>
              <a:rPr 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(25B11AI203)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B2D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Artificial Intelligence &amp; Machine Learning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86400" cy="4937760"/>
          </a:xfrm>
          <a:prstGeom prst="roundRect">
            <a:avLst>
              <a:gd name="adj" fmla="val 2593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72200" y="1371600"/>
            <a:ext cx="5486400" cy="4937760"/>
          </a:xfrm>
          <a:prstGeom prst="roundRect">
            <a:avLst>
              <a:gd name="adj" fmla="val 2593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1645920"/>
            <a:ext cx="4892040" cy="4389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Finalize title, objectives &amp; problem statement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entities &amp; attributes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ER diagram &amp; relationships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 relational database schema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Primary &amp; Foreign Keys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GitHub repo &amp; responsibilities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creation &amp; constraints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645920"/>
            <a:ext cx="4892040" cy="4389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sample data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DDL, DML &amp; DQL operations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CRUD operations &amp; SQL queries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integrity &amp;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documentation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 &amp; present database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Title: </a:t>
            </a:r>
            <a:r>
              <a:rPr lang="en-US" sz="2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 Order Management System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10515600" cy="16002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2148840"/>
            <a:ext cx="548640" cy="54864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2951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1488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55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2788920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Managing customers, products, orders, payments, shipping and delivery manually can lead to data inconsistency, duplication and inefficient order tracking.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10515600" cy="2697480"/>
          </a:xfrm>
          <a:prstGeom prst="roundRect">
            <a:avLst>
              <a:gd name="adj" fmla="val 474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097280" y="3886200"/>
            <a:ext cx="548640" cy="54864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403250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28800" y="3886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55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4572000"/>
            <a:ext cx="98755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800" b="1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and manage customer and product information.</a:t>
            </a:r>
            <a:endParaRPr lang="en-US" sz="1800" dirty="0"/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800" b="1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orders, order items, payments and shipping.</a:t>
            </a:r>
            <a:endParaRPr lang="en-US" sz="1800" dirty="0"/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800" b="1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order status and delivery information.</a:t>
            </a:r>
            <a:endParaRPr lang="en-US" sz="1800" dirty="0"/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800" b="1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 data integrity using Primary and Foreign Keys.</a:t>
            </a:r>
            <a:endParaRPr lang="en-US" sz="1800" dirty="0"/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800" b="1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efficient retrieval of order and sales information.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ENTITIES &amp; ATTRIBUTES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40080" y="1371600"/>
          <a:ext cx="10881360" cy="4663440"/>
        </p:xfrm>
        <a:graphic>
          <a:graphicData uri="http://schemas.openxmlformats.org/drawingml/2006/table">
            <a:tbl>
              <a:tblPr/>
              <a:tblGrid>
                <a:gridCol w="2286000"/>
                <a:gridCol w="859536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ENTITY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ATTRIBUTES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Customer_ID (PK), Name, Email, Phone, Address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Category_ID (PK), Category_Name, Description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Product_ID (PK), Product_Name, Price, Stock_Quantity, Category_ID (FK)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ORDER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Order_ID (PK), Order_Date, Total_Amount, Order_Status, Customer_ID (FK)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ORDER_ITEM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Order_Item_ID (PK), Order_ID (FK), Product_ID (FK), Quantity, Subtotal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PAYMENT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Payment_ID (PK), Order_ID (FK), Payment_Date, Payment_Method, Payment_Status, Amount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SHIPPING</a:t>
                      </a:r>
                      <a:endParaRPr lang="en-US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Shipping_ID (PK), Order_ID (FK), Shipping_Address, Shipping_Date, Delivery_Date, Shipping_Status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ER DIAGRAM</a:t>
            </a:r>
            <a:endParaRPr lang="en-US" sz="2600" dirty="0"/>
          </a:p>
        </p:txBody>
      </p:sp>
      <p:pic>
        <p:nvPicPr>
          <p:cNvPr id="5" name="Image 1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" y="1087120"/>
            <a:ext cx="11825605" cy="5770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RELATIONAL DATABASE SCHEMA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325880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1325880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id PK, name, email, phone, address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029968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2029968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834640" y="2029968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id PK, category name, description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734056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7240" y="2734056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834640" y="2734056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Product_id PK, product name, price, stock quantity, category id FK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438144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77240" y="3438144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834640" y="3438144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id PK, order date, total amount, order status, customer id FK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142232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4142232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ORDER_ITEM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834640" y="4142232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item id PK, order id FK, product id FK, quantity, subtotal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846320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77240" y="4846320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2834640" y="4846320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id PK, order id FK, payment date, payment method, payment status, amount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5550408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77240" y="5550408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2834640" y="5550408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id PK, order id FK, shipping address, shipping date, delivery date, shipping status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PRIMARY &amp; FOREIGN KEYS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Keys maintain uniqueness and referential integrity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9B2D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KEY: </a:t>
            </a:r>
            <a:r>
              <a:rPr lang="en-US" sz="17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primary key (PK) is a column or set of columns that uniquely identifies each record in the table. It cannot contain duplicate or NULL values.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FOREIGN KEY: </a:t>
            </a:r>
            <a:r>
              <a:rPr lang="en-US" sz="17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foreign key (FK) is a column that creates a connection between two tables; it refers to the primary key of another table.</a:t>
            </a:r>
            <a:endParaRPr lang="en-US" sz="1700" dirty="0"/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731520" y="3383280"/>
            <a:ext cx="5120640" cy="3017520"/>
          </a:xfrm>
          <a:prstGeom prst="roundRect">
            <a:avLst>
              <a:gd name="adj" fmla="val 4242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6172200" y="3383280"/>
            <a:ext cx="5303520" cy="3017520"/>
          </a:xfrm>
          <a:prstGeom prst="roundRect">
            <a:avLst>
              <a:gd name="adj" fmla="val 4242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>
            <p:custDataLst>
              <p:tags r:id="rId4"/>
            </p:custDataLst>
          </p:nvPr>
        </p:nvSpPr>
        <p:spPr>
          <a:xfrm>
            <a:off x="1005840" y="3493135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8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Keys (PK)</a:t>
            </a:r>
            <a:endParaRPr lang="en-US" sz="2200" dirty="0"/>
          </a:p>
        </p:txBody>
      </p:sp>
      <p:sp>
        <p:nvSpPr>
          <p:cNvPr id="9" name="Text 6"/>
          <p:cNvSpPr txBox="1"/>
          <p:nvPr>
            <p:custDataLst>
              <p:tags r:id="rId5"/>
            </p:custDataLst>
          </p:nvPr>
        </p:nvSpPr>
        <p:spPr>
          <a:xfrm>
            <a:off x="1005840" y="4023360"/>
            <a:ext cx="4572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CUSTOMER: </a:t>
            </a:r>
            <a:r>
              <a:rPr lang="en-US" sz="17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Customer_ID</a:t>
            </a:r>
            <a:endParaRPr lang="en-US" sz="1700" dirty="0"/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CATEGORY: </a:t>
            </a:r>
            <a:r>
              <a:rPr lang="en-US" sz="17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Category_ID</a:t>
            </a:r>
            <a:endParaRPr lang="en-US" sz="1700" dirty="0"/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PRODUCT: </a:t>
            </a:r>
            <a:r>
              <a:rPr lang="en-US" sz="17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Product_ID</a:t>
            </a:r>
            <a:endParaRPr lang="en-US" sz="1700" dirty="0"/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ORDERS: </a:t>
            </a:r>
            <a:r>
              <a:rPr lang="en-US" sz="17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Order_ID</a:t>
            </a:r>
            <a:endParaRPr lang="en-US" sz="1700" dirty="0"/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ORDER_ITEM: </a:t>
            </a:r>
            <a:r>
              <a:rPr lang="en-US" sz="17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Order_Item_ID</a:t>
            </a:r>
            <a:endParaRPr lang="en-US" sz="1700" dirty="0"/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PAYMENT: </a:t>
            </a:r>
            <a:r>
              <a:rPr lang="en-US" sz="17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Payment_ID</a:t>
            </a:r>
            <a:endParaRPr lang="en-US" sz="1700" dirty="0"/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SHIPPING: </a:t>
            </a:r>
            <a:r>
              <a:rPr lang="en-US" sz="17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Shipping_ID</a:t>
            </a:r>
            <a:endParaRPr lang="en-US" sz="1700" dirty="0"/>
          </a:p>
        </p:txBody>
      </p:sp>
      <p:sp>
        <p:nvSpPr>
          <p:cNvPr id="10" name="Text 7"/>
          <p:cNvSpPr txBox="1"/>
          <p:nvPr>
            <p:custDataLst>
              <p:tags r:id="rId6"/>
            </p:custDataLst>
          </p:nvPr>
        </p:nvSpPr>
        <p:spPr>
          <a:xfrm>
            <a:off x="6446520" y="35204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8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Foreign Keys (FK)</a:t>
            </a:r>
            <a:endParaRPr lang="en-US" sz="2200" dirty="0"/>
          </a:p>
        </p:txBody>
      </p:sp>
      <p:sp>
        <p:nvSpPr>
          <p:cNvPr id="11" name="Text 8"/>
          <p:cNvSpPr txBox="1"/>
          <p:nvPr>
            <p:custDataLst>
              <p:tags r:id="rId7"/>
            </p:custDataLst>
          </p:nvPr>
        </p:nvSpPr>
        <p:spPr>
          <a:xfrm>
            <a:off x="6446520" y="4023360"/>
            <a:ext cx="493776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PRODUCT.Category_ID → CATEGORY.Category_ID</a:t>
            </a:r>
            <a:endParaRPr lang="en-US" sz="1550" dirty="0"/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ORDERS.Customer_ID → CUSTOMER.Customer_ID</a:t>
            </a:r>
            <a:endParaRPr lang="en-US" sz="1550" dirty="0"/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ORDER_ITEM.Order_ID → ORDERS.Order_ID</a:t>
            </a:r>
            <a:endParaRPr lang="en-US" sz="1550" dirty="0"/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ORDER_ITEM.Product_ID → PRODUCT.Product_ID</a:t>
            </a:r>
            <a:endParaRPr lang="en-US" sz="1550" dirty="0"/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PAYMENT.Order_ID → ORDERS.Order_ID</a:t>
            </a:r>
            <a:endParaRPr lang="en-US" sz="1550" dirty="0"/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SHIPPING.Order_ID → ORDERS.Order_ID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GITHUB REPOSITORY &amp; TEAM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463040"/>
            <a:ext cx="69494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Repository: 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github.com/&lt;team&gt;/ecommerce-order-management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Structure: 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/schema, /queries, /sample-data, /docs, README.md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834640"/>
            <a:ext cx="6949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Responsibilities: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33756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1: 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 diagram &amp; relational schema design</a:t>
            </a:r>
            <a:endParaRPr lang="en-US" sz="19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2: 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creation, keys &amp; constraints</a:t>
            </a:r>
            <a:endParaRPr lang="en-US" sz="19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3: 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data &amp; CRUD / SQL queries</a:t>
            </a:r>
            <a:endParaRPr lang="en-US" sz="19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4: 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Testing, documentation &amp; presentation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138160" y="1463040"/>
            <a:ext cx="3474720" cy="4389120"/>
          </a:xfrm>
          <a:prstGeom prst="roundRect">
            <a:avLst>
              <a:gd name="adj" fmla="val 3684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098280" y="1920240"/>
            <a:ext cx="1554480" cy="155448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98280" y="1920240"/>
            <a:ext cx="15544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GH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37490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416052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38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ecommerce-order-management-system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&amp; CONSTRAINTS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created and tables defined with integrity constraints: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106984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NULL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name, email, price, order_date must be present.</a:t>
            </a:r>
            <a:endParaRPr lang="en-US" sz="1900" dirty="0"/>
          </a:p>
          <a:p>
            <a:pPr marL="228600" indent="-2286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Customer.email, Shipment.tracking_no.</a:t>
            </a:r>
            <a:endParaRPr lang="en-US" sz="1900" dirty="0"/>
          </a:p>
          <a:p>
            <a:pPr marL="228600" indent="-2286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price &gt; 0, stock_qty &gt;= 0, quantity &gt; 0.</a:t>
            </a:r>
            <a:endParaRPr lang="en-US" sz="1900" dirty="0"/>
          </a:p>
          <a:p>
            <a:pPr marL="228600" indent="-2286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Order.status = 'Pending', Payment.status = 'Unpaid'.</a:t>
            </a:r>
            <a:endParaRPr lang="en-US" sz="1900" dirty="0"/>
          </a:p>
          <a:p>
            <a:pPr marL="228600" indent="-2286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/ FOREIGN KEY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enforce identity &amp; referential integrity.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31520" y="4343400"/>
            <a:ext cx="10698480" cy="1965960"/>
          </a:xfrm>
          <a:prstGeom prst="roundRect">
            <a:avLst>
              <a:gd name="adj" fmla="val 6512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05840" y="44805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48463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TABLE Orders 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order_id INT PRIMARY KEY,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status VARCHAR(20) DEFAULT 'Pending',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total_amount DECIMAL CHECK (total_amount &gt;= 0)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SAMPLE DATA INSERTION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822960" y="1554480"/>
          <a:ext cx="10515600" cy="4590288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5760720"/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Table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Sample Record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C001, Ravi Kumar, ravi@mail.com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P010, Wireless Mouse, ₹599, stock 120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Order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O100, C001, 2026-02-11, Shipped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Order_Item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150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I200, O100, P010, qty 2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Payment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PAY55, O100, UPI, ₹1198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Shipment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SH88, O100, BlueDart, In Transit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DDL, DML &amp; DQL OPERATIONS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20440" cy="5029200"/>
          </a:xfrm>
          <a:prstGeom prst="roundRect">
            <a:avLst>
              <a:gd name="adj" fmla="val 363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5087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087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874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DDL</a:t>
            </a:r>
            <a:r>
              <a:rPr lang="en-US" sz="16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(structure)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688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CREATE, ALTER, DROP &amp; TRUNCATE to define and modify table structures.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337560"/>
            <a:ext cx="3154680" cy="2834640"/>
          </a:xfrm>
          <a:prstGeom prst="roundRect">
            <a:avLst>
              <a:gd name="adj" fmla="val 322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3474720"/>
            <a:ext cx="278892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TABLE Orders (...);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ALTER TABLE Product ADD COLUMN brand VARCHAR(50);</a:t>
            </a:r>
            <a:endParaRPr lang="en-US" sz="1400" dirty="0"/>
          </a:p>
          <a:p>
            <a:pPr marL="0" indent="0">
              <a:buNone/>
            </a:pPr>
            <a:r>
              <a:rPr lang="en-US" sz="1500" i="1" dirty="0">
                <a:solidFill>
                  <a:srgbClr val="F6B2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TRUNCATE / DROP for resetting tables.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1325880"/>
            <a:ext cx="3520440" cy="5029200"/>
          </a:xfrm>
          <a:prstGeom prst="roundRect">
            <a:avLst>
              <a:gd name="adj" fmla="val 363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5087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5087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1874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DML</a:t>
            </a:r>
            <a:r>
              <a:rPr lang="en-US" sz="16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(data)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4688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INSERT, UPDATE &amp; DELETE to manage records within the tables.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26280" y="3337560"/>
            <a:ext cx="3154680" cy="2834640"/>
          </a:xfrm>
          <a:prstGeom prst="roundRect">
            <a:avLst>
              <a:gd name="adj" fmla="val 322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9160" y="3474720"/>
            <a:ext cx="278892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INSERT INTO Customer ...;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UPDATE Product SET stock_qty = stock_qty - 1 WHERE product_id = 101;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DELETE FROM Order WHERE status = 'Cancelled';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138160" y="1325880"/>
            <a:ext cx="3520440" cy="5029200"/>
          </a:xfrm>
          <a:prstGeom prst="roundRect">
            <a:avLst>
              <a:gd name="adj" fmla="val 363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66760" y="15087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66760" y="15087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1874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DQL</a:t>
            </a:r>
            <a:r>
              <a:rPr lang="en-US" sz="16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(retrieval)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366760" y="24688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with WHERE, ORDER BY &amp; GROUP BY to retrieve data.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321040" y="3337560"/>
            <a:ext cx="3154680" cy="2834640"/>
          </a:xfrm>
          <a:prstGeom prst="roundRect">
            <a:avLst>
              <a:gd name="adj" fmla="val 322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03920" y="3474720"/>
            <a:ext cx="278892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* FROM Orders WHERE status = 'Delivered';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name, price FROM Product ORDER BY price DESC;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CRUD &amp; SQL QUERIES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5564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24028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new orders, customers &amp; products into the database.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128016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175564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24028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Joins, aggregate functions &amp; views for sales reports.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128016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175564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224028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Modify order status, stock levels &amp; customer details.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052560" y="128016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3544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3544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175564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0" y="224028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cancelled orders while preserving integrity.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1546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CRUD: </a:t>
            </a:r>
            <a:r>
              <a:rPr lang="en-US" sz="17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order, Read order status, Update stock/status, Delete cancelled orders.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65760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Joins: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1828800" y="3657600"/>
            <a:ext cx="978408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011680" y="3657600"/>
            <a:ext cx="9418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o.order_id, c.name, p.name, oi.quantity FROM Orders o JOIN Customer c ON o.customer_id=c.customer_id JOIN Order_Item oi ON o.order_id=oi.order_id JOIN Product p ON oi.product_id=p.product_id;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553712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Aggregate: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828800" y="4553712"/>
            <a:ext cx="978408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011680" y="4553712"/>
            <a:ext cx="9418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customer_id, SUM(total_amount) AS spend FROM Orders GROUP BY customer_id HAVING SUM(total_amount) &gt; 5000;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449824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View: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1828800" y="5449824"/>
            <a:ext cx="978408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011680" y="5449824"/>
            <a:ext cx="9418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VIEW Sales_Summary AS SELECT p.name, SUM(oi.quantity) AS units_sold FROM Order_Item oi JOIN Product p ON oi.product_id=p.product_id GROUP BY p.name;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INTEGRITY &amp; VALIDATION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5204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75564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Duplicates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40280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keys &amp; unique constraints prevent duplicate IDs.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1280160"/>
            <a:ext cx="35204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75564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 Data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240280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constraints ensure only valid prices, quantities &amp; emails.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138160" y="1280160"/>
            <a:ext cx="35204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6676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676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175564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Referential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2240280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Foreign keys keep orders linked to valid customers &amp; products.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2004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integrity is maintained through: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Entity integrity</a:t>
            </a: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PRIMARY KEYs prevent duplicate/NULL IDs.</a:t>
            </a:r>
            <a:endParaRPr lang="en-US" sz="1800" dirty="0"/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Referential integrity</a:t>
            </a: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FOREIGN KEYs block orphan orders/items.</a:t>
            </a:r>
            <a:endParaRPr lang="en-US" sz="1800" dirty="0"/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integrity</a:t>
            </a: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CHECK &amp; data types keep valid values (price &gt; 0).</a:t>
            </a:r>
            <a:endParaRPr lang="en-US" sz="1800" dirty="0"/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</a:t>
            </a: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no repeated emails or tracking numbers.</a:t>
            </a:r>
            <a:endParaRPr lang="en-US" sz="1800" dirty="0"/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stock can't go negative; quantity must be positive.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DELETE CASCADE / RESTRICT rules preserve consistency across related tables.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DOCUMENTATION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project documentation includes: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14884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317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65960" y="210312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 Diagram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965960" y="253288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Entities, attributes &amp; relationships.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263640" y="187452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37960" y="214884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3317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98080" y="210312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Schema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0" y="253288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 with keys &amp; constraints.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731520" y="333756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05840" y="361188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7947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965960" y="356616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Dictionary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1965960" y="399592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 names, types &amp; descriptions.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6263640" y="333756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37960" y="361188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79476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98080" y="356616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Queries</a:t>
            </a:r>
            <a:endParaRPr lang="en-US" sz="2100" dirty="0"/>
          </a:p>
        </p:txBody>
      </p:sp>
      <p:sp>
        <p:nvSpPr>
          <p:cNvPr id="25" name="Text 18"/>
          <p:cNvSpPr txBox="1"/>
          <p:nvPr/>
        </p:nvSpPr>
        <p:spPr>
          <a:xfrm>
            <a:off x="7498080" y="399592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DDL, DML, DQL, joins, views.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731520" y="480060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05840" y="507492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525780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965960" y="502920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Screenshots</a:t>
            </a:r>
            <a:endParaRPr lang="en-US" sz="2100" dirty="0"/>
          </a:p>
        </p:txBody>
      </p:sp>
      <p:sp>
        <p:nvSpPr>
          <p:cNvPr id="30" name="Text 22"/>
          <p:cNvSpPr txBox="1"/>
          <p:nvPr/>
        </p:nvSpPr>
        <p:spPr>
          <a:xfrm>
            <a:off x="1965960" y="545896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outputs &amp; query results.</a:t>
            </a:r>
            <a:endParaRPr lang="en-US" sz="1550" dirty="0"/>
          </a:p>
        </p:txBody>
      </p:sp>
      <p:sp>
        <p:nvSpPr>
          <p:cNvPr id="31" name="Shape 23"/>
          <p:cNvSpPr/>
          <p:nvPr/>
        </p:nvSpPr>
        <p:spPr>
          <a:xfrm>
            <a:off x="6263640" y="480060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537960" y="507492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525780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498080" y="502920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README</a:t>
            </a:r>
            <a:endParaRPr lang="en-US" sz="2100" dirty="0"/>
          </a:p>
        </p:txBody>
      </p:sp>
      <p:sp>
        <p:nvSpPr>
          <p:cNvPr id="35" name="Text 26"/>
          <p:cNvSpPr txBox="1"/>
          <p:nvPr/>
        </p:nvSpPr>
        <p:spPr>
          <a:xfrm>
            <a:off x="7498080" y="545896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Setup steps &amp; team contributions on GitHub.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DEMONSTRATE &amp; PRESENT</a:t>
            </a:r>
            <a:endParaRPr lang="en-US" sz="2600" dirty="0"/>
          </a:p>
        </p:txBody>
      </p:sp>
      <p:pic>
        <p:nvPicPr>
          <p:cNvPr id="5" name="Image 1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114800" cy="34378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303520" y="14173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demonstration of the working database:</a:t>
            </a:r>
            <a:endParaRPr lang="en-US" sz="2100" dirty="0"/>
          </a:p>
        </p:txBody>
      </p:sp>
      <p:sp>
        <p:nvSpPr>
          <p:cNvPr id="7" name="Text 3"/>
          <p:cNvSpPr txBox="1"/>
          <p:nvPr/>
        </p:nvSpPr>
        <p:spPr>
          <a:xfrm>
            <a:off x="5303520" y="2011680"/>
            <a:ext cx="64008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 a new order &amp; auto-update product stock.</a:t>
            </a:r>
            <a:endParaRPr lang="en-US" sz="1900" dirty="0"/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payment and change order status.</a:t>
            </a:r>
            <a:endParaRPr lang="en-US" sz="1900" dirty="0"/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shipment and mark as delivered.</a:t>
            </a:r>
            <a:endParaRPr lang="en-US" sz="1900" dirty="0"/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join, aggregate &amp; view queries for reports.</a:t>
            </a:r>
            <a:endParaRPr lang="en-US" sz="1900" dirty="0"/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constraint enforcement &amp; error handling.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731520" y="5257800"/>
            <a:ext cx="10881360" cy="1051560"/>
          </a:xfrm>
          <a:prstGeom prst="roundRect">
            <a:avLst>
              <a:gd name="adj" fmla="val 12174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1005840" y="5257800"/>
            <a:ext cx="103327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presentation walks through design decisions, live SQL execution, and query outputs proving end-to-end order management.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1325880"/>
            <a:ext cx="10698480" cy="1371600"/>
          </a:xfrm>
          <a:prstGeom prst="roundRect">
            <a:avLst>
              <a:gd name="adj" fmla="val 9333"/>
            </a:avLst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51560" y="132588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B2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Summary: 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normalized relational database was designed and implemented to manage the full e-commerce order lifecycle — customers, products, orders, payments &amp; shipping.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5212080" cy="3383280"/>
          </a:xfrm>
          <a:prstGeom prst="roundRect">
            <a:avLst>
              <a:gd name="adj" fmla="val 3784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2926080"/>
            <a:ext cx="5212080" cy="3383280"/>
          </a:xfrm>
          <a:prstGeom prst="roundRect">
            <a:avLst>
              <a:gd name="adj" fmla="val 3784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31089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Learnings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65760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 modelling &amp; converting it into a normalized schema.</a:t>
            </a:r>
            <a:endParaRPr lang="en-US" sz="18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Enforcing integrity with keys &amp; constraints.</a:t>
            </a:r>
            <a:endParaRPr lang="en-US" sz="18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joins, aggregates &amp; views for insights.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31089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365760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procedures &amp; triggers</a:t>
            </a:r>
            <a:endParaRPr lang="en-US" sz="18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/ coupon module</a:t>
            </a:r>
            <a:endParaRPr lang="en-US" sz="18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reviews</a:t>
            </a:r>
            <a:endParaRPr lang="en-US" sz="18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Web/app front-end with analytics dashboard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651760"/>
            <a:ext cx="11094415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 Order Management System</a:t>
            </a:r>
            <a:endParaRPr lang="en-US" sz="2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2.55,&quot;left&quot;:57.6,&quot;top&quot;:242.1,&quot;width&quot;:846}"/>
</p:tagLst>
</file>

<file path=ppt/tags/tag2.xml><?xml version="1.0" encoding="utf-8"?>
<p:tagLst xmlns:p="http://schemas.openxmlformats.org/presentationml/2006/main">
  <p:tag name="KSO_WM_DIAGRAM_VIRTUALLY_FRAME" val="{&quot;height&quot;:272.55,&quot;left&quot;:57.6,&quot;top&quot;:242.1,&quot;width&quot;:846}"/>
</p:tagLst>
</file>

<file path=ppt/tags/tag3.xml><?xml version="1.0" encoding="utf-8"?>
<p:tagLst xmlns:p="http://schemas.openxmlformats.org/presentationml/2006/main">
  <p:tag name="KSO_WM_DIAGRAM_VIRTUALLY_FRAME" val="{&quot;height&quot;:272.55,&quot;left&quot;:57.6,&quot;top&quot;:242.1,&quot;width&quot;:846}"/>
</p:tagLst>
</file>

<file path=ppt/tags/tag4.xml><?xml version="1.0" encoding="utf-8"?>
<p:tagLst xmlns:p="http://schemas.openxmlformats.org/presentationml/2006/main">
  <p:tag name="KSO_WM_DIAGRAM_VIRTUALLY_FRAME" val="{&quot;height&quot;:272.55,&quot;left&quot;:57.6,&quot;top&quot;:242.1,&quot;width&quot;:846}"/>
</p:tagLst>
</file>

<file path=ppt/tags/tag5.xml><?xml version="1.0" encoding="utf-8"?>
<p:tagLst xmlns:p="http://schemas.openxmlformats.org/presentationml/2006/main">
  <p:tag name="KSO_WM_DIAGRAM_VIRTUALLY_FRAME" val="{&quot;height&quot;:272.55,&quot;left&quot;:57.6,&quot;top&quot;:242.1,&quot;width&quot;:846}"/>
</p:tagLst>
</file>

<file path=ppt/tags/tag6.xml><?xml version="1.0" encoding="utf-8"?>
<p:tagLst xmlns:p="http://schemas.openxmlformats.org/presentationml/2006/main">
  <p:tag name="KSO_WM_DIAGRAM_VIRTUALLY_FRAME" val="{&quot;height&quot;:272.55,&quot;left&quot;:57.6,&quot;top&quot;:242.1,&quot;width&quot;:84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7642</Words>
  <Application>WPS Presentation</Application>
  <PresentationFormat>On-screen Show (16:9)</PresentationFormat>
  <Paragraphs>387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Order Management System - DBMS Cornerstone Project</dc:title>
  <dc:creator>PptxGenJS</dc:creator>
  <dc:subject>PptxGenJS Presentation</dc:subject>
  <cp:lastModifiedBy>G.shara</cp:lastModifiedBy>
  <cp:revision>2</cp:revision>
  <dcterms:created xsi:type="dcterms:W3CDTF">2026-09-18T18:31:00Z</dcterms:created>
  <dcterms:modified xsi:type="dcterms:W3CDTF">2026-09-28T16:28:17Z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15650D13492C4C6FA4D16A9C3409FB37_13</vt:lpwstr>
  </property>
  <property fmtid="{D5CDD505-2E9C-101B-9397-08002B2CF9AE}" pid="3" name="KSOProductBuildVer">
    <vt:lpwstr>2057-12.2.0.23206</vt:lpwstr>
  </property>
</Properties>
</file>