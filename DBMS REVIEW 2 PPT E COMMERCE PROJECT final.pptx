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528" y="365760"/>
            <a:ext cx="5120640" cy="48183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F5597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Database Management Systems Cornerstone Project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32615" y="2080260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2F5597"/>
                </a:solidFill>
                <a:latin typeface="Times New Roman" panose="02020603050405020304" charset="0"/>
                <a:ea typeface="Cambria" panose="02040503050406030204" pitchFamily="34" charset="-122"/>
                <a:cs typeface="Times New Roman" panose="02020603050405020304" charset="0"/>
              </a:rPr>
              <a:t>Final Review (Review II)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548640" y="2661285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E-Commerce Order Management System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14400" y="3520440"/>
            <a:ext cx="4754880" cy="1965960"/>
          </a:xfrm>
          <a:prstGeom prst="roundRect">
            <a:avLst>
              <a:gd name="adj" fmla="val 651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88720" y="374904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GUIDED BY</a:t>
            </a:r>
          </a:p>
        </p:txBody>
      </p:sp>
      <p:sp>
        <p:nvSpPr>
          <p:cNvPr id="8" name="Text 5"/>
          <p:cNvSpPr txBox="1"/>
          <p:nvPr/>
        </p:nvSpPr>
        <p:spPr>
          <a:xfrm>
            <a:off x="1188720" y="4206240"/>
            <a:ext cx="4206240" cy="735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MRS. </a:t>
            </a:r>
            <a:r>
              <a:rPr lang="en-IN" altLang="en-US" sz="24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G.L.</a:t>
            </a:r>
            <a:r>
              <a:rPr lang="en-US" sz="24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V. </a:t>
            </a:r>
            <a:r>
              <a:rPr lang="en-US" sz="2400" dirty="0">
                <a:solidFill>
                  <a:srgbClr val="0B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Narasamba </a:t>
            </a:r>
            <a:r>
              <a:rPr lang="en-US" sz="24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mam</a:t>
            </a:r>
            <a:r>
              <a:rPr lang="en-IN" altLang="en-US" sz="24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endParaRPr lang="en-US" sz="2400" dirty="0">
              <a:solidFill>
                <a:srgbClr val="0B1F4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IN" altLang="en-US" sz="2400" dirty="0"/>
              <a:t>Assistant proferssor</a:t>
            </a:r>
          </a:p>
        </p:txBody>
      </p:sp>
      <p:sp>
        <p:nvSpPr>
          <p:cNvPr id="9" name="Shape 6"/>
          <p:cNvSpPr/>
          <p:nvPr/>
        </p:nvSpPr>
        <p:spPr>
          <a:xfrm>
            <a:off x="6309360" y="3520440"/>
            <a:ext cx="4983480" cy="1965960"/>
          </a:xfrm>
          <a:prstGeom prst="roundRect">
            <a:avLst>
              <a:gd name="adj" fmla="val 651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36576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4069080"/>
            <a:ext cx="43891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M.Hemanth babu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(25B11AI739)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G.shara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(25B11AI038)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P.Sri datha sai krishna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US" sz="2000" dirty="0">
                <a:solidFill>
                  <a:srgbClr val="0B1F44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25B11AI097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IN" alt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Ch.Teja sai durga</a:t>
            </a:r>
            <a:r>
              <a:rPr lang="en-US" sz="2000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(25B11AI203)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32615" y="60350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B2D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Artificial Intelligence &amp; Machine Learning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Presentation Outline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259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2593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645920"/>
            <a:ext cx="489204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Abstract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Finalize title, objectives &amp; problem statement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Identify entities &amp; attributes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Design ER diagram &amp; relationships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Prepare relational database schema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Define Primary &amp; Foreign Keys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Create GitHub repo &amp; responsibilities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Database creation &amp; constraints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431280" y="1645920"/>
            <a:ext cx="489204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9.  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Insert sample data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10.  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DDL, DML &amp; DQL operations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11.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CRUD operations &amp; SQL queries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12.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 integrity &amp; validation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13.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Project documentation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14.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Demonstrate &amp; present database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ts val="1000"/>
              </a:spcAft>
              <a:buSzPct val="100000"/>
              <a:buFont typeface="+mj-lt"/>
              <a:buNone/>
            </a:pPr>
            <a:r>
              <a:rPr lang="en-IN" alt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15. </a:t>
            </a:r>
            <a:r>
              <a:rPr lang="en-US" sz="20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Title: </a:t>
            </a:r>
            <a:r>
              <a:rPr lang="en-US" sz="24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E-Commerce Order Management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10515600" cy="1600200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148840"/>
            <a:ext cx="548640" cy="54864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22951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148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559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Problem Statement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097280" y="278892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Managing customers, products, orders, payments, shipping and delivery manually can lead to data inconsistency, duplication and inefficient order tracking.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10515600" cy="2697480"/>
          </a:xfrm>
          <a:prstGeom prst="roundRect">
            <a:avLst>
              <a:gd name="adj" fmla="val 474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97280" y="3886200"/>
            <a:ext cx="548640" cy="54864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84" y="403250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828800" y="3886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5597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Objectives</a:t>
            </a:r>
            <a:endParaRPr lang="en-US" sz="2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188720" y="457200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Store and manage customer and product information.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Manage orders, order items, payments and shipping.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Track order status and delivery information.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Ensure data integrity using Primary and Foreign Keys.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400"/>
              </a:spcAft>
              <a:buSzPct val="100000"/>
              <a:buChar char="•"/>
            </a:pPr>
            <a:r>
              <a:rPr lang="en-US" sz="1800" b="1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Provide efficient retrieval of order and sales information</a:t>
            </a:r>
            <a:r>
              <a:rPr lang="en-US" sz="1800" b="1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14600" y="281271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ENTITIES &amp; ATTRIBUTES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143313"/>
              </p:ext>
            </p:extLst>
          </p:nvPr>
        </p:nvGraphicFramePr>
        <p:xfrm>
          <a:off x="640080" y="1371600"/>
          <a:ext cx="10881360" cy="4663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ENTITY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ATTRIBUTES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CUSTOMER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Customer_ID (PK), Name, Email, Phone, Address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Category_ID (PK), Category_Name, Description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PRODUCT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Product_ID (PK), Product_Name, Price, Stock_Quantity, Category_ID (FK)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ORDER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Order_ID (PK), Order_Date, Total_Amount, Order_Status, Customer_ID (FK)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ORDER_ITEM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Order_Item_ID (PK), Order_ID (FK), Product_ID (FK), Quantity, Subtotal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PAYMENT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Payment_ID (PK), Order_ID (FK), Payment_Date, Payment_Method, Payment_Status, Amount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SHIPPING</a:t>
                      </a:r>
                      <a:endParaRPr lang="en-US" sz="17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i="1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Shipping_ID (PK), Order_ID (FK), Shipping_Address, Shipping_Date, Delivery_Date, Shipping_Status</a:t>
                      </a:r>
                      <a:endParaRPr lang="en-US" sz="16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ER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" y="1163320"/>
            <a:ext cx="10234930" cy="5453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RELATIONAL DATABASE SCHEMA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325880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CUSTOMER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2797810" y="1325880"/>
            <a:ext cx="8632190" cy="612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Customer id PK, name, email, phone, address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29968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2013873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CATEGORY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2834640" y="2029968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Category id PK, category name, description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77240" y="2734056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PRODUCT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2834640" y="2734056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Product_id PK, product name, price, stock quantity, category id FK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438144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7240" y="3438144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2834640" y="3438144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 id PK, order date, total amount, order status, customer id FK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48640" y="4142232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142232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ORDER_ITEM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2834640" y="4142232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 item id PK, order id FK, product id FK, quantity, subtotal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777240" y="4846320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PAYMENT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2834640" y="4846320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Payment id PK, order id FK, payment date, payment method, payment status, amount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48640" y="5550408"/>
            <a:ext cx="11064240" cy="612648"/>
          </a:xfrm>
          <a:prstGeom prst="roundRect">
            <a:avLst>
              <a:gd name="adj" fmla="val 2089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777240" y="5550408"/>
            <a:ext cx="201168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SHIPPING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2834640" y="5550408"/>
            <a:ext cx="8595360" cy="6126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Shipping id PK, order id FK, shipping address, shipping date, delivery date, shipping status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PRIMARY &amp; FOREIGN KEYS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85800" y="1225296"/>
            <a:ext cx="1069848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Keys maintain uniqueness and referential integrity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9B2D30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PRIMARY KEY: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 primary key (PK) is a column or set of columns that uniquely identifies each record in the table. It cannot contain duplicate or NULL values.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FOREIGN KEY: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 foreign key (FK) is a column that creates a connection between two tables; it refers to the primary key of another table.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>
            <p:custDataLst>
              <p:tags r:id="rId1"/>
            </p:custDataLst>
          </p:nvPr>
        </p:nvSpPr>
        <p:spPr>
          <a:xfrm>
            <a:off x="731520" y="3383280"/>
            <a:ext cx="5120640" cy="3017520"/>
          </a:xfrm>
          <a:prstGeom prst="roundRect">
            <a:avLst>
              <a:gd name="adj" fmla="val 424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6172200" y="3383280"/>
            <a:ext cx="5303520" cy="3017520"/>
          </a:xfrm>
          <a:prstGeom prst="roundRect">
            <a:avLst>
              <a:gd name="adj" fmla="val 4242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>
            <p:custDataLst>
              <p:tags r:id="rId3"/>
            </p:custDataLst>
          </p:nvPr>
        </p:nvSpPr>
        <p:spPr>
          <a:xfrm>
            <a:off x="1005840" y="3493135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8A4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Primary Keys (PK</a:t>
            </a:r>
            <a:r>
              <a:rPr lang="en-US" sz="2200" b="1" dirty="0">
                <a:solidFill>
                  <a:srgbClr val="138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2200" dirty="0"/>
          </a:p>
        </p:txBody>
      </p:sp>
      <p:sp>
        <p:nvSpPr>
          <p:cNvPr id="9" name="Text 6"/>
          <p:cNvSpPr txBox="1"/>
          <p:nvPr>
            <p:custDataLst>
              <p:tags r:id="rId4"/>
            </p:custDataLst>
          </p:nvPr>
        </p:nvSpPr>
        <p:spPr>
          <a:xfrm>
            <a:off x="1005840" y="402336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CUSTOMER: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Customer_ID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CATEGORY: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Category_ID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PRODUCT: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Product_ID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ORDERS: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ORDER_ITEM: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Order_Item_ID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PAYMENT: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Payment_ID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300"/>
              </a:spcAft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SHIPPING: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Shipping_ID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>
            <p:custDataLst>
              <p:tags r:id="rId5"/>
            </p:custDataLst>
          </p:nvPr>
        </p:nvSpPr>
        <p:spPr>
          <a:xfrm>
            <a:off x="6446520" y="35204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8A4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Foreign Keys (FK)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>
            <p:custDataLst>
              <p:tags r:id="rId6"/>
            </p:custDataLst>
          </p:nvPr>
        </p:nvSpPr>
        <p:spPr>
          <a:xfrm>
            <a:off x="6446520" y="402336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PRODUCT.Category_ID → CATEGORY.Category_ID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ORDERS.Customer_ID → CUSTOMER.Customer_ID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ORDER_ITEM.Order_ID → ORDERS.Order_ID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ORDER_ITEM.Product_ID → PRODUCT.Product_ID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PAYMENT.Order_ID → ORDERS.Order_ID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SHIPPING.Order_ID → ORDERS.Order_ID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GITHUB REPOSITORY &amp; TEAM</a:t>
            </a:r>
            <a:r>
              <a:rPr lang="en-IN" alt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RESPONSIBILITIES</a:t>
            </a:r>
            <a:endParaRPr lang="en-IN" altLang="en-US" sz="26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31520" y="1463040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Repository: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en-GB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https://github.com/hemanthmindrana2008-spec/E-commerce-order-management-system/tree/main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Structure: 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/schema, /queries, /sample-data, /docs, README.md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31520" y="2834640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Team Responsibilities: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1520" y="333756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Member 1: 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ER diagram &amp; relational schema design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Member 2: 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Table creation, keys &amp; constraints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Member 3: 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Sample data &amp; CRUD / SQL queries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Member 4: 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Testing, documentation &amp; presentation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138160" y="1234440"/>
            <a:ext cx="3474720" cy="4389120"/>
          </a:xfrm>
          <a:prstGeom prst="roundRect">
            <a:avLst>
              <a:gd name="adj" fmla="val 368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098280" y="1920240"/>
            <a:ext cx="1554480" cy="155448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98280" y="1920240"/>
            <a:ext cx="1554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GH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7490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51520" y="41605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138A4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ecommerce-order-management-system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DATABASE &amp; CONSTRAINTS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Database created and tables defined with integrity constraints: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31520" y="1828800"/>
            <a:ext cx="1069848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NOT NULL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name, email, price, order_date must be present.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UNIQUE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Customer.email, Shipment.tracking_no.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CHECK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price &gt; 0, stock_qty &gt;= 0, quantity &gt; 0.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DEFAULT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Order.status = 'Pending', Payment.status = 'Unpaid'.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PRIMARY / FOREIGN KEY</a:t>
            </a: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enforce identity &amp; referential integrity.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4343400"/>
            <a:ext cx="10698480" cy="1965960"/>
          </a:xfrm>
          <a:prstGeom prst="roundRect">
            <a:avLst>
              <a:gd name="adj" fmla="val 6512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44805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484632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CREATE TABLE Orders (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    order_id INT PRIMARY KEY,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    status VARCHAR(20) DEFAULT 'Pending',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    total_amount DECIMAL CHECK (total_amount &gt;= 0</a:t>
            </a: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D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SAMPLE DATA INSERTION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254100"/>
              </p:ext>
            </p:extLst>
          </p:nvPr>
        </p:nvGraphicFramePr>
        <p:xfrm>
          <a:off x="822960" y="1554480"/>
          <a:ext cx="10515600" cy="45902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Rows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Sample Record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Customer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C001, Ravi Kumar, ravi@mail.com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Product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40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P010, Wireless Mouse, ₹599, stock 120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Order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O100, C001, 2026-02-11, Shipped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Order_Item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150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I200, O100, P010, qty 2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Payment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PAY55, O100, UPI, ₹1198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Shipment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B1F44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endParaRPr lang="en-US" sz="20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ea typeface="Calibri" panose="020F0502020204030204" pitchFamily="34" charset="-122"/>
                          <a:cs typeface="Times New Roman" panose="02020603050405020304" pitchFamily="18" charset="0"/>
                        </a:rPr>
                        <a:t>SH88, O100, BlueDart, In Transit</a:t>
                      </a:r>
                      <a:endParaRPr lang="en-US" sz="1800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DDL, DML &amp; DQL OPERATIONS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20440" cy="5029200"/>
          </a:xfrm>
          <a:prstGeom prst="roundRect">
            <a:avLst>
              <a:gd name="adj" fmla="val 363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087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74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DDL</a:t>
            </a:r>
            <a:r>
              <a:rPr lang="en-US" sz="16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 (structure</a:t>
            </a:r>
            <a:r>
              <a:rPr lang="en-US" sz="16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CREATE, ALTER, DROP &amp; TRUNCATE to define and modify table structures</a:t>
            </a:r>
            <a:r>
              <a:rPr lang="en-US" sz="14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33756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474720"/>
            <a:ext cx="2788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CREATE TABLE Orders (...);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ALTER TABLE Product ADD COLUMN brand VARCHAR(50);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i="1" dirty="0">
                <a:solidFill>
                  <a:srgbClr val="F6B26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TRUNCATE / DROP for resetting tables.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325880"/>
            <a:ext cx="3520440" cy="5029200"/>
          </a:xfrm>
          <a:prstGeom prst="roundRect">
            <a:avLst>
              <a:gd name="adj" fmla="val 363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5087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1874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DML</a:t>
            </a:r>
            <a:r>
              <a:rPr lang="en-US" sz="16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 (data)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4572000" y="24688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INSERT, UPDATE &amp; DELETE to manage records within the tables.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26280" y="333756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9160" y="3474720"/>
            <a:ext cx="2788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INSERT INTO Customer ...;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UPDATE Product SET stock_qty = stock_qty - 1 WHERE product_id = 101;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DELETE FROM Order WHERE status = 'Cancelled';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138160" y="1325880"/>
            <a:ext cx="3520440" cy="5029200"/>
          </a:xfrm>
          <a:prstGeom prst="roundRect">
            <a:avLst>
              <a:gd name="adj" fmla="val 3636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366760" y="15087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15087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66760" y="1874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DQL</a:t>
            </a:r>
            <a:r>
              <a:rPr lang="en-US" sz="16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 (retrieval</a:t>
            </a:r>
            <a:r>
              <a:rPr lang="en-US" sz="16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366760" y="246888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SELECT with WHERE, ORDER BY &amp; GROUP BY to retrieve data.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321040" y="3337560"/>
            <a:ext cx="3154680" cy="2834640"/>
          </a:xfrm>
          <a:prstGeom prst="roundRect">
            <a:avLst>
              <a:gd name="adj" fmla="val 322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0" y="3474720"/>
            <a:ext cx="2788920" cy="2606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SELECT * FROM Orders WHERE status = 'Delivered';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SELECT name, price FROM Product ORDER BY price DESC;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CRUD &amp; SQL QUERIES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Create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3152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Add new orders, customers &amp; products into the database.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8328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Read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356616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Joins, aggregate functions &amp; views for sales reports</a:t>
            </a:r>
            <a:r>
              <a:rPr lang="en-US" sz="12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Update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40080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Modify order status, stock levels &amp; customer details.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052560" y="128016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3544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3544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175564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Delete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9235440" y="224028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Remove cancelled orders while preserving integrity.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CRUD: </a:t>
            </a:r>
            <a:r>
              <a:rPr lang="en-US" sz="17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Create order, Read order status, Update stock/status, Delete cancelled orders</a:t>
            </a:r>
            <a:r>
              <a:rPr lang="en-US" sz="17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65760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Joins</a:t>
            </a:r>
            <a:r>
              <a:rPr lang="en-US" sz="17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1828800" y="3657600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011680" y="3657600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SELECT o.order_id, c.name, p.name, oi.quantity FROM Orders o JOIN Customer c ON o.customer_id=c.customer_id JOIN Order_Item oi ON o.order_id=oi.order_id JOIN Product p ON oi.product_id=p.product_id;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548640" y="4553712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Aggregate</a:t>
            </a:r>
            <a:r>
              <a:rPr lang="en-US" sz="17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828800" y="4553712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11680" y="4553712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SELECT customer_id, SUM(total_amount) AS spend FROM Orders GROUP BY customer_id HAVING SUM(total_amount) &gt; 5000;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548640" y="5449824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View: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828800" y="5449824"/>
            <a:ext cx="9784080" cy="777240"/>
          </a:xfrm>
          <a:prstGeom prst="roundRect">
            <a:avLst>
              <a:gd name="adj" fmla="val 11765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011680" y="5449824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7"/>
                </a:solidFill>
                <a:latin typeface="Times New Roman" panose="02020603050405020304" pitchFamily="18" charset="0"/>
                <a:ea typeface="Courier New" panose="02070309020205020404" pitchFamily="34" charset="-122"/>
                <a:cs typeface="Times New Roman" panose="02020603050405020304" pitchFamily="18" charset="0"/>
              </a:rPr>
              <a:t>CREATE VIEW Sales_Summary AS SELECT p.name, SUM(oi.quantity) AS units_sold FROM Order_Item oi JOIN Product p ON oi.product_id=p.product_id GROUP BY p.name;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DATA INTEGRITY &amp; VALIDATION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55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No Duplicates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" y="2240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Primary keys &amp; unique constraints prevent duplicate IDs.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43400" y="128016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73736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Valid Data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572000" y="2240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Check constraints ensure only valid prices, quantities &amp; emails</a:t>
            </a: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38160" y="1280160"/>
            <a:ext cx="3520440" cy="1691640"/>
          </a:xfrm>
          <a:prstGeom prst="roundRect">
            <a:avLst>
              <a:gd name="adj" fmla="val 7568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66760" y="141732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175564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Referential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8366760" y="22402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Foreign keys keep orders linked to valid customers &amp; products</a:t>
            </a:r>
            <a:r>
              <a:rPr lang="en-US" sz="135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32004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Data integrity is maintained through: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31520" y="365760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Entity integrity</a:t>
            </a: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PRIMARY KEYs prevent duplicate/NULL IDs.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Referential integrity</a:t>
            </a: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FOREIGN KEYs block orphan orders/items.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Domain integrity</a:t>
            </a: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CHECK &amp; data types keep valid values (price &gt; 0).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UNIQUE</a:t>
            </a: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no repeated emails or tracking numbers.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Validation</a:t>
            </a: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 — stock can't go negative; quantity must be positive.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77402" y="5806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ON DELETE CASCADE / RESTRICT rules preserve consistency across related tables</a:t>
            </a:r>
            <a:r>
              <a:rPr lang="en-US" sz="1800" i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DOCUMENTATION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project documentation includes: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187452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05840" y="214884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33172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2121408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ER Diagram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965960" y="253288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Entities, attributes &amp; relationships</a:t>
            </a: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263640" y="187452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214884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331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98080" y="210312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Relational Schema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7498080" y="253288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Tables with keys &amp; constraints.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731520" y="333756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05840" y="361188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7947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965960" y="35661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Dictionary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1965960" y="4022987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Attribute names, types &amp; descriptions</a:t>
            </a: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6263640" y="333756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361188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79476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98080" y="35661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SQL Queries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7498080" y="399592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DDL, DML, DQL, joins, views</a:t>
            </a:r>
            <a:r>
              <a:rPr lang="en-US" sz="15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731520" y="480060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05840" y="507492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52578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965960" y="502920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Screenshots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1965960" y="545896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Table outputs &amp; query results.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6263640" y="4800600"/>
            <a:ext cx="5257800" cy="1280160"/>
          </a:xfrm>
          <a:prstGeom prst="roundRect">
            <a:avLst>
              <a:gd name="adj" fmla="val 10000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37960" y="5074920"/>
            <a:ext cx="731520" cy="731520"/>
          </a:xfrm>
          <a:prstGeom prst="ellipse">
            <a:avLst/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525780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498080" y="502920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README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7498080" y="5458968"/>
            <a:ext cx="37947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Setup steps &amp; team contributions on GitHub.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529688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DEMONSTRATE &amp; PRESENT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417320"/>
            <a:ext cx="4114800" cy="34378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03520" y="14173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Live demonstration of the working database</a:t>
            </a:r>
            <a:r>
              <a:rPr lang="en-US" sz="2100" b="1" dirty="0">
                <a:solidFill>
                  <a:srgbClr val="0B1F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</a:t>
            </a:r>
            <a:endParaRPr lang="en-US" sz="2100" dirty="0"/>
          </a:p>
        </p:txBody>
      </p:sp>
      <p:sp>
        <p:nvSpPr>
          <p:cNvPr id="7" name="Text 3"/>
          <p:cNvSpPr txBox="1"/>
          <p:nvPr/>
        </p:nvSpPr>
        <p:spPr>
          <a:xfrm>
            <a:off x="5303520" y="2011680"/>
            <a:ext cx="64008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Place a new order &amp; auto-update product stock.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Process payment and change order status.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Track shipment and mark as delivered.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Run join, aggregate &amp; view queries for reports.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Show constraint enforcement &amp; error handling</a:t>
            </a:r>
            <a:r>
              <a:rPr lang="en-US" sz="1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731520" y="5257800"/>
            <a:ext cx="10881360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1005840" y="5257800"/>
            <a:ext cx="103327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The presentation walks through design decisions, live SQL execution, and query outputs proving end-to-end order management.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457200"/>
            <a:ext cx="1920240" cy="1806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29688" y="274320"/>
            <a:ext cx="7132320" cy="713232"/>
          </a:xfrm>
          <a:prstGeom prst="roundRect">
            <a:avLst>
              <a:gd name="adj" fmla="val 2051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2654783" y="274320"/>
            <a:ext cx="71323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2600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 panose="02040503050406030204" pitchFamily="34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10698480" cy="1371600"/>
          </a:xfrm>
          <a:prstGeom prst="roundRect">
            <a:avLst>
              <a:gd name="adj" fmla="val 9333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1051560" y="132588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6B26B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Summary: </a:t>
            </a: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A normalized relational database was designed and implemented to manage the full e-commerce order lifecycle — customers, products, orders, payments &amp; shipping.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520" y="292608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2926080"/>
            <a:ext cx="5212080" cy="3383280"/>
          </a:xfrm>
          <a:prstGeom prst="roundRect">
            <a:avLst>
              <a:gd name="adj" fmla="val 3784"/>
            </a:avLst>
          </a:prstGeom>
          <a:solidFill>
            <a:srgbClr val="F3F6FB"/>
          </a:solidFill>
          <a:ln w="9525">
            <a:solidFill>
              <a:srgbClr val="DCE3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05840" y="31089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Key Learnings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05840" y="365760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ER modelling &amp; converting it into a normalized schema.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Enforcing integrity with keys &amp; constraints.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Writing joins, aggregates &amp; views for insights.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492240" y="31089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44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Future Enhancements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92240" y="3657600"/>
            <a:ext cx="466344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Stored procedures &amp; triggers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Discount / coupon module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Product reviews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Web/app front-end with analytics dashboard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920240" cy="18068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651760"/>
            <a:ext cx="11094415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8710A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THANK YOU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472"/>
                </a:solidFill>
                <a:latin typeface="Times New Roman" panose="02020603050405020304" pitchFamily="18" charset="0"/>
                <a:ea typeface="Calibri" panose="020F0502020204030204" pitchFamily="34" charset="-122"/>
                <a:cs typeface="Times New Roman" panose="02020603050405020304" pitchFamily="18" charset="0"/>
              </a:rPr>
              <a:t>E-Commerce Order Management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55,&quot;left&quot;:57.6,&quot;top&quot;:242.1,&quot;width&quot;:84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55,&quot;left&quot;:57.6,&quot;top&quot;:242.1,&quot;width&quot;:84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55,&quot;left&quot;:57.6,&quot;top&quot;:242.1,&quot;width&quot;:84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55,&quot;left&quot;:57.6,&quot;top&quot;:242.1,&quot;width&quot;:84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55,&quot;left&quot;:57.6,&quot;top&quot;:242.1,&quot;width&quot;:84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2.55,&quot;left&quot;:57.6,&quot;top&quot;:242.1,&quot;width&quot;:84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1659</Words>
  <Application>Microsoft Office PowerPoint</Application>
  <PresentationFormat>Widescreen</PresentationFormat>
  <Paragraphs>243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Order Management System - DBMS Cornerstone Project</dc:title>
  <dc:subject>PptxGenJS Presentation</dc:subject>
  <dc:creator>PptxGenJS</dc:creator>
  <cp:lastModifiedBy>jashwin Guduri</cp:lastModifiedBy>
  <cp:revision>6</cp:revision>
  <dcterms:created xsi:type="dcterms:W3CDTF">2026-09-18T18:31:00Z</dcterms:created>
  <dcterms:modified xsi:type="dcterms:W3CDTF">2026-09-28T18:37:52Z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E12625B3DFDD4531B9F63126A882C9B7_13</vt:lpwstr>
  </property>
  <property fmtid="{D5CDD505-2E9C-101B-9397-08002B2CF9AE}" pid="3" name="KSOProductBuildVer">
    <vt:lpwstr>2057-12.2.0.23206</vt:lpwstr>
  </property>
</Properties>
</file>